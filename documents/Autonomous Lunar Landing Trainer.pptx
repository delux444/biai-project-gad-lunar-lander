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"/>
      <p:regular r:id="rId17"/>
      <p:bold r:id="rId18"/>
      <p:italic r:id="rId19"/>
      <p:boldItalic r:id="rId20"/>
    </p:embeddedFont>
    <p:embeddedFont>
      <p:font typeface="Azeret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22" Type="http://schemas.openxmlformats.org/officeDocument/2006/relationships/font" Target="fonts/AzeretMono-bold.fntdata"/><Relationship Id="rId10" Type="http://schemas.openxmlformats.org/officeDocument/2006/relationships/slide" Target="slides/slide5.xml"/><Relationship Id="rId21" Type="http://schemas.openxmlformats.org/officeDocument/2006/relationships/font" Target="fonts/AzeretMono-regular.fntdata"/><Relationship Id="rId13" Type="http://schemas.openxmlformats.org/officeDocument/2006/relationships/slide" Target="slides/slide8.xml"/><Relationship Id="rId24" Type="http://schemas.openxmlformats.org/officeDocument/2006/relationships/font" Target="fonts/AzeretMono-boldItalic.fntdata"/><Relationship Id="rId12" Type="http://schemas.openxmlformats.org/officeDocument/2006/relationships/slide" Target="slides/slide7.xml"/><Relationship Id="rId23" Type="http://schemas.openxmlformats.org/officeDocument/2006/relationships/font" Target="fonts/Azeret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573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// PROJECT LUNAR LANDER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428875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Neuroevolutionary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Precision Pilot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291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Training Neural Networks using Genetic Algorithms for Autonomous Landing</a:t>
            </a:r>
            <a:endParaRPr/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CHALLENGE: LUNAR LANDING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57300" y="1707637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mission requires a software pilot to navigate a lunar module from the top center to a specific landing pad at coordinates (0,0) between two yellow flags.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78900" y="298108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Precision touchdown between flags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78888" y="3313512"/>
            <a:ext cx="48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Minimal fuel consumption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8888" y="364593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-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Zero-crash safety tolerance</a:t>
            </a:r>
            <a:endParaRPr/>
          </a:p>
        </p:txBody>
      </p:sp>
      <p:pic>
        <p:nvPicPr>
          <p:cNvPr id="99" name="Google Shape;99;p14" title="lar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000" y="1254625"/>
            <a:ext cx="4633475" cy="4971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79056"/>
            <a:ext cx="5238750" cy="614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069556"/>
            <a:ext cx="485775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GYMNASIUM ENVIRONMENT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242173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LunarLander-v3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2831306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classic rocket trajectory optimization problem. It uses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Box2D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physics to simulate gravity, momentum, and thrust interactions.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4683918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agent must balance vertical descent and horizontal tilt simultaneously to avoid a catastrophic impact.</a:t>
            </a:r>
            <a:endParaRPr/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5" title="land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98" y="1915225"/>
            <a:ext cx="5500675" cy="364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WHAT THE PILOT SEES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1510775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Position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2006075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Coordinates (X, Y) relative to the landing pad center.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2737212" y="3429000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Velocity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737212" y="3924300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Linear velocity vectors in both horizontal and vertical axes.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050900" y="1510775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Orientation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050900" y="2006075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Angle of the craft and its angular velocity (spin).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26112" y="3407438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Leg Contact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026112" y="3902738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Binary sensors for both left and right landing gear contact.</a:t>
            </a:r>
            <a:endParaRPr/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CONTROLS &amp; EXECUTION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10800" y="4556125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0: Idle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0800" y="5051425"/>
            <a:ext cx="1881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Engines off. Saves fuel and allows for gravity-assisted descent.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103562" y="3429000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1: Left Thruster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103562" y="3924300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Fire side engine to rotate clockwise and move left.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950475" y="1933575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2: Main Engine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950475" y="2428875"/>
            <a:ext cx="18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Maximum thrust to counteract gravity and slow descent.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59262" y="3352275"/>
            <a:ext cx="1975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3: Right Thruster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59262" y="3847575"/>
            <a:ext cx="1881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Fire side engine to rotate counter-clockwise and move right.</a:t>
            </a:r>
            <a:endParaRPr/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BRAIN: ARCHITECTURE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1920113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MLP Structure: 8 → 64 → 32 → 4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2362200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Multi-Layer Perceptron acts as the decision-making policy. It maps 8 sensory inputs directly to 4 action probabilities.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05350" y="316547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Activation: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Tanh (Hidden), Argmax (Output)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05425" y="3622550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Complexity: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2,724 Total Genes (Weights + Biases)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05425" y="407962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Inference: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Fast matrix multiplication via NumPy</a:t>
            </a:r>
            <a:endParaRPr/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METHODOLOGY: NEUROEVOLUTION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94150" y="1711588"/>
            <a:ext cx="480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Genotype Encoding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94150" y="2206888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Neural network weights are flattened into a single array (chromosome). We evolve the weights instead of using Gradient Descent.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04400" y="1711588"/>
            <a:ext cx="480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Selection Process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604400" y="2206888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Tournament Selection (K=6)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Picks the strongest candidates from small groups to be parents of the next generation.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87000" y="3727713"/>
            <a:ext cx="495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Two-Point Crossover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87000" y="4223013"/>
            <a:ext cx="471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Preserves blocks of correlated weights, allowing for more stable trait inheritance compared to random shuffling.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454375" y="3727713"/>
            <a:ext cx="495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Top-6 Elitism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454375" y="4213250"/>
            <a:ext cx="4714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Ensures that the best pilots are never lost, preserving progress across generations unconditionally.</a:t>
            </a:r>
            <a:endParaRPr/>
          </a:p>
        </p:txBody>
      </p:sp>
      <p:sp>
        <p:nvSpPr>
          <p:cNvPr id="171" name="Google Shape;171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TRAINING PROGRESS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78" name="Google Shape;17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20" title="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825" y="1231025"/>
            <a:ext cx="81343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REWARD SHAPING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971550" y="1587500"/>
            <a:ext cx="1024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Precision Bonus (+80):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Fires when both legs touch. Incentivizes landing right on x=0 center.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85838" y="2095500"/>
            <a:ext cx="1024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Soft Landing Bonus (+40):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Penalizes high vertical velocity. Teaches the agent to hover gently.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957263" y="2619375"/>
            <a:ext cx="1027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Upright Bonus (+30):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Rewards landing at a perfect 0° angle. Eliminates side-scrapers.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985838" y="3143250"/>
            <a:ext cx="1024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Exploit Prevention: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Removed "Touch-and-Go" hacks by averaging fitness over 5 random episodes.</a:t>
            </a:r>
            <a:endParaRPr/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971" y="4026775"/>
            <a:ext cx="4329025" cy="283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762000" y="966787"/>
            <a:ext cx="500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//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ESCAPING LOCAL OPTIMA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45268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Adaptive Mutation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286226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Weak solutions mutate heavily (25%) to explore new strategies, while elite solutions mutate lightly (3%) to fine-tune successful traits.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51673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fitness plateaus for 25 generations, mutation is boosted by 1.4x to "kick" the population out of the local optimum.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4250862"/>
            <a:ext cx="455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STAGNATION LIMIT: 25</a:t>
            </a:r>
            <a:endParaRPr/>
          </a:p>
        </p:txBody>
      </p:sp>
      <p:sp>
        <p:nvSpPr>
          <p:cNvPr id="201" name="Google Shape;201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375" y="657225"/>
            <a:ext cx="5819775" cy="55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2203975"/>
            <a:ext cx="110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Safe Landing Achieved through Neuroevolution</a:t>
            </a:r>
            <a:endParaRPr sz="2200">
              <a:solidFill>
                <a:srgbClr val="38BDF8"/>
              </a:solidFill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3313500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Questions?</a:t>
            </a:r>
            <a:endParaRPr sz="2100">
              <a:solidFill>
                <a:srgbClr val="38BDF8"/>
              </a:solidFill>
            </a:endParaRPr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