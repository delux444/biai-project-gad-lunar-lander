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Urbanist Medium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regular.fntdata"/><Relationship Id="rId22" Type="http://schemas.openxmlformats.org/officeDocument/2006/relationships/font" Target="fonts/UrbanistMedium-italic.fntdata"/><Relationship Id="rId21" Type="http://schemas.openxmlformats.org/officeDocument/2006/relationships/font" Target="fonts/UrbanistMedium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a7615397a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da7615397a_4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26.png"/><Relationship Id="rId7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9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25441" y="2127944"/>
            <a:ext cx="894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LUNAR LANDER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2988915"/>
            <a:ext cx="7620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mplementation of a Genetic Algorithm in the Gymnasium Lunar Lander environment using the PyGAD library.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867001" y="4520356"/>
            <a:ext cx="445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Michał Figołuszka | Karol Bieżuński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180332"/>
            <a:ext cx="952500" cy="19050"/>
          </a:xfrm>
          <a:prstGeom prst="rect">
            <a:avLst/>
          </a:prstGeom>
          <a:noFill/>
          <a:ln cap="flat" cmpd="sng" w="190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624137" y="2485132"/>
            <a:ext cx="7290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Goals and objectives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351907"/>
            <a:ext cx="7620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main goal is to develop a genetic algorithm that, through</a:t>
            </a:r>
            <a:b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 evolutionary process, learns to safely land on the lunar surface.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2405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81025" y="2924175"/>
            <a:ext cx="549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PHYSICAL </a:t>
            </a:r>
            <a:r>
              <a:rPr b="1" lang="en-US" sz="195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CHALLENGES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81025" y="3381375"/>
            <a:ext cx="522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8-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dimensional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state vector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position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velocity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angle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81025" y="3829050"/>
            <a:ext cx="522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4 discrete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actions for engines steering</a:t>
            </a:r>
            <a:endParaRPr/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4337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81437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ENVIRONMENT</a:t>
            </a:r>
            <a:r>
              <a:rPr b="1" i="0" lang="en-US" sz="27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: LUNAR LANDER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81025" y="581025"/>
            <a:ext cx="47625" cy="419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81750" y="1924050"/>
            <a:ext cx="5229226" cy="3724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38337"/>
            <a:ext cx="348615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938337"/>
            <a:ext cx="348615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938337"/>
            <a:ext cx="3486150" cy="37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803910" y="3119437"/>
            <a:ext cx="3040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GLOBAL OPTIMIZATION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76300" y="3919537"/>
            <a:ext cx="2895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Ability to avoid local minima through mutation mechanism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575760" y="3269437"/>
            <a:ext cx="3040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GRADIENT FREE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575750" y="3919525"/>
            <a:ext cx="3040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GA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 do not require a differentiable loss function, making them ideal for environments with sparse rewards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347610" y="3269437"/>
            <a:ext cx="3040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LOGICAL SIMPLICITY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214150" y="3919525"/>
            <a:ext cx="3307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Nature-inspired approach allows for intuitive modeling of the learning process through “survival of the fittest”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4075" y="23669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3669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9300" y="23669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WHY GENETIC ALGORITHM</a:t>
            </a:r>
            <a:r>
              <a:rPr b="1" i="0" lang="en-US" sz="27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81025" y="581025"/>
            <a:ext cx="47625" cy="419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85925"/>
            <a:ext cx="52292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6493450" y="1385625"/>
            <a:ext cx="549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REPRESENTATION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493450" y="1924150"/>
            <a:ext cx="5229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Each individual (chromosome) consists of a vector </a:t>
            </a:r>
            <a:b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of floating-point numbers. These values act as direct control parameters (gains) for the lander’s engines based on its current state (coordinates, velocity, angle)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STRATEGY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81025" y="581025"/>
            <a:ext cx="47625" cy="419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6493450" y="3678900"/>
            <a:ext cx="549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FITNESS FUNCTION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493450" y="4190975"/>
            <a:ext cx="52293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performance of each controller is measured by the Total Reward from the Gymnasium Env.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-"/>
            </a:pPr>
            <a:r>
              <a:rPr b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Positive Fitness: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Awarded for a soft landing between the flags and stabilizing the aircraft.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-"/>
            </a:pPr>
            <a:r>
              <a:rPr b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Negative Fitness: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Penalties for crashing or flying out of bounds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41" name="Google Shape;14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025" y="1685925"/>
            <a:ext cx="52293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83700" y="2200375"/>
            <a:ext cx="2726550" cy="327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319875" y="6442500"/>
            <a:ext cx="692500" cy="41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6493450" y="1385625"/>
            <a:ext cx="549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EVOLUTIONARY PROCESS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120825" y="1924150"/>
            <a:ext cx="59646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would use PyGAD to manage the life cycle of the population: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-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Selection: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Identifying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top-performing “pilots” to act as parents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-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Crossover: Combining parameters form two successful individuals to produce offspring.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-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Mutation: Introducing random variations to the parameters to explore new landing maneuvers and prevent stagnation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STRATEGY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81025" y="581025"/>
            <a:ext cx="47700" cy="419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33" y="1947188"/>
            <a:ext cx="5229225" cy="2401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581025" y="694475"/>
            <a:ext cx="519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ENVIRONMENT INTEGRATION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81025" y="1332650"/>
            <a:ext cx="4943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key challenge lies in integrating the PyGAD engine with the Gymnasium simulation loop. Each individual in the population will be evaluated based on the total reward accumulated during a single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simulation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run.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580988" y="3009725"/>
            <a:ext cx="4943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final product will be a script demonstrating real-time landing using the evolved parameters.</a:t>
            </a:r>
            <a:endParaRPr/>
          </a:p>
        </p:txBody>
      </p:sp>
      <p:pic>
        <p:nvPicPr>
          <p:cNvPr id="162" name="Google Shape;162;p19" title="Apollo_11_Lunar_Module_Eagle_in_landing_configuration_in_lunar_orbit_from_the_Command_and_Service_Module_Columbi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4750" y="459275"/>
            <a:ext cx="6607252" cy="593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85962"/>
            <a:ext cx="2543175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1985962"/>
            <a:ext cx="2543175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985962"/>
            <a:ext cx="2543175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67800" y="1985962"/>
            <a:ext cx="2543175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52587" y="237648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827484" y="3071812"/>
            <a:ext cx="20502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PYTHON 3.X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876300" y="3567112"/>
            <a:ext cx="1952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Base language providing flexibility and a rich ecosystem of scientific libraries.</a:t>
            </a:r>
            <a:endParaRPr/>
          </a:p>
        </p:txBody>
      </p:sp>
      <p:pic>
        <p:nvPicPr>
          <p:cNvPr descr="image.png" id="175" name="Google Shape;17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95787" y="237648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3656409" y="3071812"/>
            <a:ext cx="20502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PYGAD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3552837" y="3567100"/>
            <a:ext cx="22692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Optimization framework, offering ready-to-use genetic algorithm modules and support dor neural networks.</a:t>
            </a:r>
            <a:endParaRPr/>
          </a:p>
        </p:txBody>
      </p:sp>
      <p:pic>
        <p:nvPicPr>
          <p:cNvPr descr="image.png" id="178" name="Google Shape;178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81862" y="23764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6485334" y="3071812"/>
            <a:ext cx="20502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6534150" y="3567112"/>
            <a:ext cx="1952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Visualization tool for tracking evolutionary progress (fitness over generations).</a:t>
            </a:r>
            <a:endParaRPr/>
          </a:p>
        </p:txBody>
      </p:sp>
      <p:pic>
        <p:nvPicPr>
          <p:cNvPr descr="image.png" id="181" name="Google Shape;181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15550" y="2376487"/>
            <a:ext cx="4476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9314259" y="3071812"/>
            <a:ext cx="20502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GITHUB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9363075" y="3567112"/>
            <a:ext cx="1952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Version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control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system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hosting the project code and managing changes.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TECH STACK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81025" y="581025"/>
            <a:ext cx="47625" cy="419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962025" y="2779855"/>
            <a:ext cx="10649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Fitness Function</a:t>
            </a:r>
            <a:r>
              <a:rPr b="1"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Defined as the sum of rewards from Gymnasium. The higher the score, the better the “individual.”.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962025" y="3301939"/>
            <a:ext cx="10649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Sel</a:t>
            </a:r>
            <a:r>
              <a:rPr b="1"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ection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Choosing the best population for reproduction.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962025" y="3881475"/>
            <a:ext cx="10649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Crossover: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exchange 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of gens from fittest population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962025" y="4461009"/>
            <a:ext cx="10649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Muta</a:t>
            </a:r>
            <a:r>
              <a:rPr b="1"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tion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random change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genes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introducing new genetic information and preventing population stagnation.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EVOLUTION MECHANICS IN PYGAD </a:t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581025" y="581025"/>
            <a:ext cx="47625" cy="419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7" name="Google Shape;19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97367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31964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905250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478534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3880800" y="2005525"/>
            <a:ext cx="443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Thank you!</a:t>
            </a:r>
            <a:endParaRPr/>
          </a:p>
        </p:txBody>
      </p:sp>
      <p:pic>
        <p:nvPicPr>
          <p:cNvPr descr="image.png" id="207" name="Google Shape;2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2537" y="4378523"/>
            <a:ext cx="27622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5519737" y="4371248"/>
            <a:ext cx="1609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8FAFC"/>
                </a:solidFill>
              </a:rPr>
              <a:t>gith</a:t>
            </a:r>
            <a:r>
              <a:rPr lang="en-US" sz="975">
                <a:solidFill>
                  <a:srgbClr val="F8FAFC"/>
                </a:solidFill>
              </a:rPr>
              <a:t>ub.com/de</a:t>
            </a:r>
            <a:r>
              <a:rPr lang="en-US" sz="975">
                <a:solidFill>
                  <a:srgbClr val="F8FAFC"/>
                </a:solidFill>
              </a:rPr>
              <a:t>lux444/	genetic-lunar-landing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